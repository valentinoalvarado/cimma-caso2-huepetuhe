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B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7132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A4D8CD"/>
                </a:solidFill>
                <a:latin typeface="Aptos"/>
              </a:rPr>
              <a:t>CÍRCULO DE MINERÍA Y MEDIO AMBIENTE · CIMMA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722376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CASO 2</a:t>
            </a:r>
          </a:p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SEDIMENTOS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54680"/>
            <a:ext cx="70408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FFFFFF"/>
                </a:solidFill>
                <a:latin typeface="Aptos"/>
              </a:rPr>
              <a:t>Evolución ambiental de la minería aluvial en Huepetuhe</a:t>
            </a:r>
          </a:p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FFFFFF"/>
                </a:solidFill>
                <a:latin typeface="Aptos"/>
              </a:rPr>
              <a:t>2017–2025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800600"/>
            <a:ext cx="68122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D5E3E0"/>
                </a:solidFill>
                <a:latin typeface="Aptos"/>
              </a:rPr>
              <a:t>Avance metodológico · datos de sedimentos + flujo de teledetección en Google Earth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1005840"/>
            <a:ext cx="2697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HALLAZGO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874519"/>
            <a:ext cx="30175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8,44×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2926080"/>
            <a:ext cx="2743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aumento del mercurio total</a:t>
            </a:r>
          </a:p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(0,45 → 3,80 mg/kg)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4773168"/>
            <a:ext cx="288036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Nota: el procesamiento GEE está preparado; sus mapas deben ejecutarse y validarse antes de presentarlos como resultados propios.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419088"/>
            <a:ext cx="70408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C3D3CF"/>
                </a:solidFill>
                <a:latin typeface="Aptos"/>
              </a:rPr>
              <a:t>Fuente de datos: tabla incluida en la actividad CIMMA (PDF entregado).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A38"/>
                </a:solidFill>
                <a:latin typeface="Aptos"/>
              </a:rPr>
              <a:t>Flujo de trabajo propuesto en Google Earth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C6C73"/>
                </a:solidFill>
                <a:latin typeface="Aptos"/>
              </a:rPr>
              <a:t>La comparación satelital se hará con ventanas temporales y simbología equivalentes.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024128" cy="50292"/>
          </a:xfrm>
          <a:prstGeom prst="rect">
            <a:avLst/>
          </a:prstGeom>
          <a:solidFill>
            <a:srgbClr val="1B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3D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C6C73"/>
                </a:solidFill>
                <a:latin typeface="Aptos"/>
              </a:rPr>
              <a:t>CIMMA · Caso 2 — Sedimentos · Avance preliminar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C6C73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263347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82296" cy="1965960"/>
          </a:xfrm>
          <a:prstGeom prst="rect">
            <a:avLst/>
          </a:prstGeom>
          <a:solidFill>
            <a:srgbClr val="1B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45920"/>
            <a:ext cx="22860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A38"/>
                </a:solidFill>
                <a:latin typeface="Aptos"/>
              </a:rPr>
              <a:t>1 ·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03120"/>
            <a:ext cx="2267712" cy="1252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Sentinel‑2 Level‑2A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COPERNICUS/S2_SR_HARMONIZED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Estación seca: mayo–septiembre de 2017 y 2025.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481328"/>
            <a:ext cx="263347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481328"/>
            <a:ext cx="82296" cy="1965960"/>
          </a:xfrm>
          <a:prstGeom prst="rect">
            <a:avLst/>
          </a:prstGeom>
          <a:solidFill>
            <a:srgbClr val="DCA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645920"/>
            <a:ext cx="22860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A38"/>
                </a:solidFill>
                <a:latin typeface="Aptos"/>
              </a:rPr>
              <a:t>2 · Preproceso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03120"/>
            <a:ext cx="2267712" cy="1252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Máscara de píxeles con nubes, cirros y sombras (SCL).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Composición estacional por mediana.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481328"/>
            <a:ext cx="263347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481328"/>
            <a:ext cx="82296" cy="1965960"/>
          </a:xfrm>
          <a:prstGeom prst="rect">
            <a:avLst/>
          </a:prstGeom>
          <a:solidFill>
            <a:srgbClr val="1B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645920"/>
            <a:ext cx="22860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A38"/>
                </a:solidFill>
                <a:latin typeface="Aptos"/>
              </a:rPr>
              <a:t>3 · Productos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103120"/>
            <a:ext cx="2267712" cy="1252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Color natural: B4‑B3‑B2.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Falso color: B11‑B8‑B4.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Diferencia NDVI: 2025 − 2017.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481328"/>
            <a:ext cx="263347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481328"/>
            <a:ext cx="82296" cy="1965960"/>
          </a:xfrm>
          <a:prstGeom prst="rect">
            <a:avLst/>
          </a:prstGeom>
          <a:solidFill>
            <a:srgbClr val="AE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1645920"/>
            <a:ext cx="22860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A38"/>
                </a:solidFill>
                <a:latin typeface="Aptos"/>
              </a:rPr>
              <a:t>4 · Contraste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103120"/>
            <a:ext cx="2267712" cy="1252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Comparar cambios de cobertura con las tendencias de Hg, metilmercurio, As, Pb, Cd y materia orgánica.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3886200"/>
            <a:ext cx="5212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B7470"/>
                </a:solidFill>
                <a:latin typeface="Aptos"/>
              </a:rPr>
              <a:t>PARÁMETROS CLAVE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4279392"/>
            <a:ext cx="5166360" cy="1371600"/>
          </a:xfrm>
          <a:prstGeom prst="rect">
            <a:avLst/>
          </a:prstGeom>
          <a:noFill/>
        </p:spPr>
        <p:txBody>
          <a:bodyPr wrap="square" lIns="45720" rIns="54864" tIns="36576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62A38"/>
                </a:solidFill>
                <a:latin typeface="Aptos"/>
              </a:defRPr>
            </a:pPr>
            <a:r>
              <a:t>•  Mis mismos meses para ambos años y las mismas escalas de visualización.</a:t>
            </a:r>
          </a:p>
          <a:p>
            <a:pPr>
              <a:spcAft>
                <a:spcPts val="700"/>
              </a:spcAft>
              <a:defRPr sz="1300">
                <a:solidFill>
                  <a:srgbClr val="162A38"/>
                </a:solidFill>
                <a:latin typeface="Aptos"/>
              </a:defRPr>
            </a:pPr>
            <a:r>
              <a:t>•  Color natural a 10 m; falso color B11‑B8‑B4 a 20 m (limitado por SWIR).</a:t>
            </a:r>
          </a:p>
          <a:p>
            <a:pPr>
              <a:spcAft>
                <a:spcPts val="700"/>
              </a:spcAft>
              <a:defRPr sz="1300">
                <a:solidFill>
                  <a:srgbClr val="162A38"/>
                </a:solidFill>
                <a:latin typeface="Aptos"/>
              </a:defRPr>
            </a:pPr>
            <a:r>
              <a:t>•  Exportación de GeoTIFF desde la pestaña Tasks del Code Editor.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886200"/>
            <a:ext cx="5303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AE4437"/>
                </a:solidFill>
                <a:latin typeface="Aptos"/>
              </a:rPr>
              <a:t>CONTROL DE CALIDAD / LIMITACIÓN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279392"/>
            <a:ext cx="5010912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62A38"/>
                </a:solidFill>
                <a:latin typeface="Aptos"/>
              </a:rPr>
              <a:t>El documento del taller no proporciona coordenadas exactas de SD‑01. El AOI en el script es provisional: hay que comprobar que el encuadre reproduce la zona mostrada en las Figuras 3 y 4 antes de reportar hectáreas o afirmar que se ha replicado el sitio exacto.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A38"/>
                </a:solidFill>
                <a:latin typeface="Aptos"/>
              </a:rPr>
              <a:t>Evidencia visual preliminar entregada en el 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C6C73"/>
                </a:solidFill>
                <a:latin typeface="Aptos"/>
              </a:rPr>
              <a:t>Estas imágenes son las Figuras 3–4 del PDF de la actividad; todavía no son exportaciones de nuestro script GEE.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024128" cy="50292"/>
          </a:xfrm>
          <a:prstGeom prst="rect">
            <a:avLst/>
          </a:prstGeom>
          <a:solidFill>
            <a:srgbClr val="1B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3D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C6C73"/>
                </a:solidFill>
                <a:latin typeface="Aptos"/>
              </a:rPr>
              <a:t>CIMMA · Caso 2 — Sedimentos · Avance preliminar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C6C73"/>
                </a:solidFill>
                <a:latin typeface="Aptos"/>
              </a:rPr>
              <a:t>3</a:t>
            </a:r>
          </a:p>
        </p:txBody>
      </p:sp>
      <p:pic>
        <p:nvPicPr>
          <p:cNvPr id="8" name="Picture 7" descr="comparacion_satelital_proporcion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3312"/>
            <a:ext cx="699516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8120" y="1463040"/>
            <a:ext cx="3749039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7470"/>
                </a:solidFill>
                <a:latin typeface="Aptos"/>
              </a:rPr>
              <a:t>LECTURA CUALITATIVA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8975" y="1901952"/>
            <a:ext cx="3749039" cy="2697480"/>
          </a:xfrm>
          <a:prstGeom prst="rect">
            <a:avLst/>
          </a:prstGeom>
          <a:noFill/>
        </p:spPr>
        <p:txBody>
          <a:bodyPr wrap="square" lIns="45720" rIns="54864" tIns="36576" b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62A38"/>
                </a:solidFill>
                <a:latin typeface="Aptos"/>
              </a:defRPr>
            </a:pPr>
            <a:r>
              <a:t>•  2017: la vegetación continua domina gran parte del entorno, con intervención concentrada cerca del río.</a:t>
            </a:r>
          </a:p>
          <a:p>
            <a:pPr>
              <a:spcAft>
                <a:spcPts val="1000"/>
              </a:spcAft>
              <a:defRPr sz="1300">
                <a:solidFill>
                  <a:srgbClr val="162A38"/>
                </a:solidFill>
                <a:latin typeface="Aptos"/>
              </a:defRPr>
            </a:pPr>
            <a:r>
              <a:t>•  2025: se observan superficies claras más extensas y fragmentación de la cobertura vegetal.</a:t>
            </a:r>
          </a:p>
          <a:p>
            <a:pPr>
              <a:spcAft>
                <a:spcPts val="1000"/>
              </a:spcAft>
              <a:defRPr sz="1300">
                <a:solidFill>
                  <a:srgbClr val="162A38"/>
                </a:solidFill>
                <a:latin typeface="Aptos"/>
              </a:defRPr>
            </a:pPr>
            <a:r>
              <a:t>•  La combinación B11‑B8‑B4 ayuda a resaltar contrastes entre vegetación, humedad y superficies expuestas.</a:t>
            </a:r>
          </a:p>
          <a:p>
            <a:pPr>
              <a:spcAft>
                <a:spcPts val="1000"/>
              </a:spcAft>
              <a:defRPr sz="1300">
                <a:solidFill>
                  <a:srgbClr val="162A38"/>
                </a:solidFill>
                <a:latin typeface="Aptos"/>
              </a:defRPr>
            </a:pPr>
            <a:r>
              <a:t>•  La categoría preliminar del cambio de superficie intervenida es ALTA; no se ha calculado aún un área GIS validada.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5056632"/>
            <a:ext cx="3584448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AE4437"/>
                </a:solidFill>
                <a:latin typeface="Aptos"/>
              </a:rPr>
              <a:t>Importante: una imagen satelital no identifica por sí sola metales ni mide concentraciones de mercurio.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6007608"/>
            <a:ext cx="70408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1">
                <a:solidFill>
                  <a:srgbClr val="5C6C73"/>
                </a:solidFill>
                <a:latin typeface="Aptos"/>
              </a:rPr>
              <a:t>Fuente: material visual proporcionado en el documento del taller CIMMA, p.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A38"/>
                </a:solidFill>
                <a:latin typeface="Aptos"/>
              </a:rPr>
              <a:t>Monitoreo SD‑01: las dos curvas prioritarias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C6C73"/>
                </a:solidFill>
                <a:latin typeface="Aptos"/>
              </a:rPr>
              <a:t>Datos extraídos de la tabla del Caso 2 (una campaña anual).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024128" cy="50292"/>
          </a:xfrm>
          <a:prstGeom prst="rect">
            <a:avLst/>
          </a:prstGeom>
          <a:solidFill>
            <a:srgbClr val="1B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3D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C6C73"/>
                </a:solidFill>
                <a:latin typeface="Aptos"/>
              </a:rPr>
              <a:t>CIMMA · Caso 2 — Sedimentos · Avance preliminar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C6C73"/>
                </a:solidFill>
                <a:latin typeface="Aptos"/>
              </a:rPr>
              <a:t>4</a:t>
            </a:r>
          </a:p>
        </p:txBody>
      </p:sp>
      <p:pic>
        <p:nvPicPr>
          <p:cNvPr id="8" name="Picture 7" descr="01_mercuri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89888"/>
            <a:ext cx="5349240" cy="3108960"/>
          </a:xfrm>
          <a:prstGeom prst="rect">
            <a:avLst/>
          </a:prstGeom>
        </p:spPr>
      </p:pic>
      <p:pic>
        <p:nvPicPr>
          <p:cNvPr id="9" name="Picture 8" descr="02_metilmercu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89888"/>
            <a:ext cx="5349240" cy="3108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3232" y="4690872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3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4690872"/>
            <a:ext cx="82296" cy="1188720"/>
          </a:xfrm>
          <a:prstGeom prst="rect">
            <a:avLst/>
          </a:prstGeom>
          <a:solidFill>
            <a:srgbClr val="AE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47274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A38"/>
                </a:solidFill>
                <a:latin typeface="Aptos"/>
              </a:rPr>
              <a:t>Mercurio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12664"/>
            <a:ext cx="4709159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0,45 → 3,80 mg/kg · factor 8,44 · +744,4 %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4690872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3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4224" y="4690872"/>
            <a:ext cx="82296" cy="1188720"/>
          </a:xfrm>
          <a:prstGeom prst="rect">
            <a:avLst/>
          </a:prstGeom>
          <a:solidFill>
            <a:srgbClr val="DCA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4855464"/>
            <a:ext cx="47274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A38"/>
                </a:solidFill>
                <a:latin typeface="Aptos"/>
              </a:rPr>
              <a:t>Metilmercurio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5312664"/>
            <a:ext cx="4709159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1,2 → 9,5 µg/kg · factor 7,92 · +691,7 %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44184"/>
            <a:ext cx="107899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A38"/>
                </a:solidFill>
                <a:latin typeface="Aptos"/>
              </a:rPr>
              <a:t>Interpretación: crecimiento sostenido en la serie; la coincidencia con cambios del paisaje es consistente, pero no prueba causalidad por sí sola.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A38"/>
                </a:solidFill>
                <a:latin typeface="Aptos"/>
              </a:rPr>
              <a:t>Tendencias complementarias en el sedimento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C6C73"/>
                </a:solidFill>
                <a:latin typeface="Aptos"/>
              </a:rPr>
              <a:t>Los índices relativos permiten comparar el ritmo de cambio sin mezclar unidades.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024128" cy="50292"/>
          </a:xfrm>
          <a:prstGeom prst="rect">
            <a:avLst/>
          </a:prstGeom>
          <a:solidFill>
            <a:srgbClr val="1B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3D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C6C73"/>
                </a:solidFill>
                <a:latin typeface="Aptos"/>
              </a:rPr>
              <a:t>CIMMA · Caso 2 — Sedimentos · Avance preliminar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C6C73"/>
                </a:solidFill>
                <a:latin typeface="Aptos"/>
              </a:rPr>
              <a:t>5</a:t>
            </a:r>
          </a:p>
        </p:txBody>
      </p:sp>
      <p:pic>
        <p:nvPicPr>
          <p:cNvPr id="8" name="Picture 7" descr="03_otros_metales_ind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5577840" cy="3310128"/>
          </a:xfrm>
          <a:prstGeom prst="rect">
            <a:avLst/>
          </a:prstGeom>
        </p:spPr>
      </p:pic>
      <p:pic>
        <p:nvPicPr>
          <p:cNvPr id="9" name="Picture 8" descr="04_materia_organ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17320"/>
            <a:ext cx="5303520" cy="3310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965192"/>
            <a:ext cx="5029200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B7470"/>
                </a:solidFill>
                <a:latin typeface="Aptos"/>
              </a:rPr>
              <a:t>OTROS METALES · 2017 A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76672"/>
            <a:ext cx="51206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62A38"/>
                </a:solidFill>
                <a:latin typeface="Aptos"/>
              </a:rPr>
              <a:t>Arsénico: ×2,34  |  Plomo: ×2,33  |  Cadmio: ×2,75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965192"/>
            <a:ext cx="4754880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B7470"/>
                </a:solidFill>
                <a:latin typeface="Aptos"/>
              </a:rPr>
              <a:t>MATERIA ORGÁNICA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5376672"/>
            <a:ext cx="47548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62A38"/>
                </a:solidFill>
                <a:latin typeface="Aptos"/>
              </a:rPr>
              <a:t>4,2 % → 1,8 %  |  disminución relativa: 57,1 %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6044184"/>
            <a:ext cx="10515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5C6C73"/>
                </a:solidFill>
                <a:latin typeface="Aptos"/>
              </a:rPr>
              <a:t>Hipótesis a discutir: aporte de material mineral/relaves y pérdida de sustrato orgánico; requiere corroboración con granulometría y geoquímica.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A38"/>
                </a:solidFill>
                <a:latin typeface="Aptos"/>
              </a:rPr>
              <a:t>Estado del avance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C6C73"/>
                </a:solidFill>
                <a:latin typeface="Aptos"/>
              </a:rPr>
              <a:t>Usa esta diapositiva para informar sin presentar como final lo que aún falta ejecutar.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024128" cy="50292"/>
          </a:xfrm>
          <a:prstGeom prst="rect">
            <a:avLst/>
          </a:prstGeom>
          <a:solidFill>
            <a:srgbClr val="1B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3D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C6C73"/>
                </a:solidFill>
                <a:latin typeface="Aptos"/>
              </a:rPr>
              <a:t>CIMMA · Caso 2 — Sedimentos · Avance preliminar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94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 i="0">
                <a:solidFill>
                  <a:srgbClr val="5C6C73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530352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3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82296" cy="3218688"/>
          </a:xfrm>
          <a:prstGeom prst="rect">
            <a:avLst/>
          </a:prstGeom>
          <a:solidFill>
            <a:srgbClr val="1B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645920"/>
            <a:ext cx="4956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A38"/>
                </a:solidFill>
                <a:latin typeface="Aptos"/>
              </a:rPr>
              <a:t>COMPLETADO EN EL PAQUETE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03120"/>
            <a:ext cx="4937759" cy="2505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• Serie SD‑01 transcrita y guardada en CSV.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• Gráficas generadas y factores de cambio calculados.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• Comparación visual cualitativa documentada.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• Script GEE preparado para Sentinel‑2, máscara de nubes, composiciones y exportación.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81328"/>
            <a:ext cx="530352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3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81328"/>
            <a:ext cx="82296" cy="3218688"/>
          </a:xfrm>
          <a:prstGeom prst="rect">
            <a:avLst/>
          </a:prstGeom>
          <a:solidFill>
            <a:srgbClr val="DCA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645920"/>
            <a:ext cx="4956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A38"/>
                </a:solidFill>
                <a:latin typeface="Aptos"/>
              </a:rPr>
              <a:t>PENDIENTE PARA CERRAR GEE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03120"/>
            <a:ext cx="4937759" cy="2505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• Ejecutar el script desde una cuenta/proyecto habilitado.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• Validar el AOI frente a las Figuras 3–4.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• Revisar nubes residuales y número de escenas.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C6C73"/>
                </a:solidFill>
                <a:latin typeface="Aptos"/>
              </a:rPr>
              <a:t>• Exportar las cuatro composiciones y capturar resultados del Code Editor.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120640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B7470"/>
                </a:solidFill>
                <a:latin typeface="Aptos"/>
              </a:rPr>
              <a:t>MENSAJE PARA EL EQUIPO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468112"/>
            <a:ext cx="106984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1">
                <a:solidFill>
                  <a:srgbClr val="162A38"/>
                </a:solidFill>
                <a:latin typeface="Aptos"/>
              </a:rPr>
              <a:t>“El análisis de la serie de sedimentos ya muestra un aumento de 8,44 veces del mercurio total entre 2017 y 2025. El procesamiento Sentinel‑2 está preparado; el siguiente hito es validar el área de estudio, ejecutar GEE y contrastar las composiciones antes de cuantificar superficie intervenida.”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